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9" r:id="rId3"/>
    <p:sldId id="267" r:id="rId4"/>
    <p:sldId id="258" r:id="rId5"/>
    <p:sldId id="261" r:id="rId6"/>
    <p:sldId id="264" r:id="rId7"/>
    <p:sldId id="266" r:id="rId8"/>
    <p:sldId id="265" r:id="rId9"/>
    <p:sldId id="257" r:id="rId10"/>
    <p:sldId id="269" r:id="rId11"/>
    <p:sldId id="268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8A447-C7CE-43A8-9F06-02C56A3E2D8A}" v="16" dt="2025-09-22T18:41:44.3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68" y="18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zos, Ileana M. (Fed)" userId="fae44607-d07d-411e-8acb-516d40b2bdbf" providerId="ADAL" clId="{14C8A447-C7CE-43A8-9F06-02C56A3E2D8A}"/>
    <pc:docChg chg="undo custSel addSld delSld modSld sldOrd">
      <pc:chgData name="Pazos, Ileana M. (Fed)" userId="fae44607-d07d-411e-8acb-516d40b2bdbf" providerId="ADAL" clId="{14C8A447-C7CE-43A8-9F06-02C56A3E2D8A}" dt="2025-09-22T18:46:39.065" v="671" actId="1035"/>
      <pc:docMkLst>
        <pc:docMk/>
      </pc:docMkLst>
      <pc:sldChg chg="modSp mod">
        <pc:chgData name="Pazos, Ileana M. (Fed)" userId="fae44607-d07d-411e-8acb-516d40b2bdbf" providerId="ADAL" clId="{14C8A447-C7CE-43A8-9F06-02C56A3E2D8A}" dt="2025-09-22T18:46:39.065" v="671" actId="1035"/>
        <pc:sldMkLst>
          <pc:docMk/>
          <pc:sldMk cId="1018847769" sldId="267"/>
        </pc:sldMkLst>
        <pc:spChg chg="mod">
          <ac:chgData name="Pazos, Ileana M. (Fed)" userId="fae44607-d07d-411e-8acb-516d40b2bdbf" providerId="ADAL" clId="{14C8A447-C7CE-43A8-9F06-02C56A3E2D8A}" dt="2025-09-22T18:46:30.704" v="655" actId="1035"/>
          <ac:spMkLst>
            <pc:docMk/>
            <pc:sldMk cId="1018847769" sldId="267"/>
            <ac:spMk id="4" creationId="{9E705157-393B-44F9-D9BB-CDD14AA09C9A}"/>
          </ac:spMkLst>
        </pc:spChg>
        <pc:spChg chg="mod">
          <ac:chgData name="Pazos, Ileana M. (Fed)" userId="fae44607-d07d-411e-8acb-516d40b2bdbf" providerId="ADAL" clId="{14C8A447-C7CE-43A8-9F06-02C56A3E2D8A}" dt="2025-09-22T18:46:39.065" v="671" actId="1035"/>
          <ac:spMkLst>
            <pc:docMk/>
            <pc:sldMk cId="1018847769" sldId="267"/>
            <ac:spMk id="9" creationId="{2798B894-E581-476B-5D54-33FA01A83FDB}"/>
          </ac:spMkLst>
        </pc:spChg>
        <pc:spChg chg="mod">
          <ac:chgData name="Pazos, Ileana M. (Fed)" userId="fae44607-d07d-411e-8acb-516d40b2bdbf" providerId="ADAL" clId="{14C8A447-C7CE-43A8-9F06-02C56A3E2D8A}" dt="2025-09-22T18:46:39.065" v="671" actId="1035"/>
          <ac:spMkLst>
            <pc:docMk/>
            <pc:sldMk cId="1018847769" sldId="267"/>
            <ac:spMk id="10" creationId="{1859326A-4419-F362-5018-4FE8371BEAE6}"/>
          </ac:spMkLst>
        </pc:spChg>
        <pc:picChg chg="mod">
          <ac:chgData name="Pazos, Ileana M. (Fed)" userId="fae44607-d07d-411e-8acb-516d40b2bdbf" providerId="ADAL" clId="{14C8A447-C7CE-43A8-9F06-02C56A3E2D8A}" dt="2025-09-22T18:14:21.163" v="128" actId="14100"/>
          <ac:picMkLst>
            <pc:docMk/>
            <pc:sldMk cId="1018847769" sldId="267"/>
            <ac:picMk id="7" creationId="{821E79DC-F856-3D8A-2FF1-7E02C8CC6BF3}"/>
          </ac:picMkLst>
        </pc:picChg>
        <pc:picChg chg="mod">
          <ac:chgData name="Pazos, Ileana M. (Fed)" userId="fae44607-d07d-411e-8acb-516d40b2bdbf" providerId="ADAL" clId="{14C8A447-C7CE-43A8-9F06-02C56A3E2D8A}" dt="2025-09-22T18:14:21.163" v="128" actId="14100"/>
          <ac:picMkLst>
            <pc:docMk/>
            <pc:sldMk cId="1018847769" sldId="267"/>
            <ac:picMk id="8" creationId="{2203D65B-F889-AB1A-8387-8DDF74B746BE}"/>
          </ac:picMkLst>
        </pc:picChg>
      </pc:sldChg>
      <pc:sldChg chg="addSp delSp modSp new mod chgLayout">
        <pc:chgData name="Pazos, Ileana M. (Fed)" userId="fae44607-d07d-411e-8acb-516d40b2bdbf" providerId="ADAL" clId="{14C8A447-C7CE-43A8-9F06-02C56A3E2D8A}" dt="2025-09-22T18:44:40.146" v="626" actId="27636"/>
        <pc:sldMkLst>
          <pc:docMk/>
          <pc:sldMk cId="3026225702" sldId="268"/>
        </pc:sldMkLst>
        <pc:spChg chg="mod ord">
          <ac:chgData name="Pazos, Ileana M. (Fed)" userId="fae44607-d07d-411e-8acb-516d40b2bdbf" providerId="ADAL" clId="{14C8A447-C7CE-43A8-9F06-02C56A3E2D8A}" dt="2025-09-22T18:34:41.883" v="441" actId="14100"/>
          <ac:spMkLst>
            <pc:docMk/>
            <pc:sldMk cId="3026225702" sldId="268"/>
            <ac:spMk id="2" creationId="{6B9FEDB8-354D-8C5B-11DF-65C0A995EE25}"/>
          </ac:spMkLst>
        </pc:spChg>
        <pc:spChg chg="del">
          <ac:chgData name="Pazos, Ileana M. (Fed)" userId="fae44607-d07d-411e-8acb-516d40b2bdbf" providerId="ADAL" clId="{14C8A447-C7CE-43A8-9F06-02C56A3E2D8A}" dt="2025-09-22T18:33:11.396" v="429" actId="21"/>
          <ac:spMkLst>
            <pc:docMk/>
            <pc:sldMk cId="3026225702" sldId="268"/>
            <ac:spMk id="3" creationId="{C3DFB82F-0CA5-56AD-2BFD-EF8C6A38CDE8}"/>
          </ac:spMkLst>
        </pc:spChg>
        <pc:spChg chg="add">
          <ac:chgData name="Pazos, Ileana M. (Fed)" userId="fae44607-d07d-411e-8acb-516d40b2bdbf" providerId="ADAL" clId="{14C8A447-C7CE-43A8-9F06-02C56A3E2D8A}" dt="2025-09-22T18:33:06.910" v="427"/>
          <ac:spMkLst>
            <pc:docMk/>
            <pc:sldMk cId="3026225702" sldId="268"/>
            <ac:spMk id="4" creationId="{CBE382A9-2C06-FD71-1BEB-E80B945C53EA}"/>
          </ac:spMkLst>
        </pc:spChg>
        <pc:spChg chg="add">
          <ac:chgData name="Pazos, Ileana M. (Fed)" userId="fae44607-d07d-411e-8acb-516d40b2bdbf" providerId="ADAL" clId="{14C8A447-C7CE-43A8-9F06-02C56A3E2D8A}" dt="2025-09-22T18:33:06.910" v="427"/>
          <ac:spMkLst>
            <pc:docMk/>
            <pc:sldMk cId="3026225702" sldId="268"/>
            <ac:spMk id="5" creationId="{8752D5CD-5208-C6B7-EEB2-B63204C58F03}"/>
          </ac:spMkLst>
        </pc:spChg>
        <pc:spChg chg="add">
          <ac:chgData name="Pazos, Ileana M. (Fed)" userId="fae44607-d07d-411e-8acb-516d40b2bdbf" providerId="ADAL" clId="{14C8A447-C7CE-43A8-9F06-02C56A3E2D8A}" dt="2025-09-22T18:33:06.910" v="427"/>
          <ac:spMkLst>
            <pc:docMk/>
            <pc:sldMk cId="3026225702" sldId="268"/>
            <ac:spMk id="6" creationId="{BC12E049-C62A-6D15-88E9-3A121DAF972E}"/>
          </ac:spMkLst>
        </pc:spChg>
        <pc:spChg chg="add del">
          <ac:chgData name="Pazos, Ileana M. (Fed)" userId="fae44607-d07d-411e-8acb-516d40b2bdbf" providerId="ADAL" clId="{14C8A447-C7CE-43A8-9F06-02C56A3E2D8A}" dt="2025-09-22T18:33:11.396" v="429" actId="21"/>
          <ac:spMkLst>
            <pc:docMk/>
            <pc:sldMk cId="3026225702" sldId="268"/>
            <ac:spMk id="7" creationId="{A62F7B95-B7FD-D1B5-D30E-8BC3A7042348}"/>
          </ac:spMkLst>
        </pc:spChg>
        <pc:spChg chg="add del">
          <ac:chgData name="Pazos, Ileana M. (Fed)" userId="fae44607-d07d-411e-8acb-516d40b2bdbf" providerId="ADAL" clId="{14C8A447-C7CE-43A8-9F06-02C56A3E2D8A}" dt="2025-09-22T18:33:11.396" v="429" actId="21"/>
          <ac:spMkLst>
            <pc:docMk/>
            <pc:sldMk cId="3026225702" sldId="268"/>
            <ac:spMk id="8" creationId="{7C2DFFA8-F0DF-02C2-EE29-E9EBA778776E}"/>
          </ac:spMkLst>
        </pc:spChg>
        <pc:spChg chg="add del">
          <ac:chgData name="Pazos, Ileana M. (Fed)" userId="fae44607-d07d-411e-8acb-516d40b2bdbf" providerId="ADAL" clId="{14C8A447-C7CE-43A8-9F06-02C56A3E2D8A}" dt="2025-09-22T18:33:11.396" v="429" actId="21"/>
          <ac:spMkLst>
            <pc:docMk/>
            <pc:sldMk cId="3026225702" sldId="268"/>
            <ac:spMk id="9" creationId="{49BECD76-3988-7ADE-BA44-59B7C72C8403}"/>
          </ac:spMkLst>
        </pc:spChg>
        <pc:spChg chg="add mod">
          <ac:chgData name="Pazos, Ileana M. (Fed)" userId="fae44607-d07d-411e-8acb-516d40b2bdbf" providerId="ADAL" clId="{14C8A447-C7CE-43A8-9F06-02C56A3E2D8A}" dt="2025-09-22T18:33:18.228" v="430"/>
          <ac:spMkLst>
            <pc:docMk/>
            <pc:sldMk cId="3026225702" sldId="268"/>
            <ac:spMk id="10" creationId="{36AE5DA6-2ED5-47FE-166D-C7B178ADE949}"/>
          </ac:spMkLst>
        </pc:spChg>
        <pc:spChg chg="add mod">
          <ac:chgData name="Pazos, Ileana M. (Fed)" userId="fae44607-d07d-411e-8acb-516d40b2bdbf" providerId="ADAL" clId="{14C8A447-C7CE-43A8-9F06-02C56A3E2D8A}" dt="2025-09-22T18:33:18.228" v="430"/>
          <ac:spMkLst>
            <pc:docMk/>
            <pc:sldMk cId="3026225702" sldId="268"/>
            <ac:spMk id="11" creationId="{DA443E81-22B3-3981-D0BB-22C0CD16C942}"/>
          </ac:spMkLst>
        </pc:spChg>
        <pc:spChg chg="add mod">
          <ac:chgData name="Pazos, Ileana M. (Fed)" userId="fae44607-d07d-411e-8acb-516d40b2bdbf" providerId="ADAL" clId="{14C8A447-C7CE-43A8-9F06-02C56A3E2D8A}" dt="2025-09-22T18:33:18.228" v="430"/>
          <ac:spMkLst>
            <pc:docMk/>
            <pc:sldMk cId="3026225702" sldId="268"/>
            <ac:spMk id="12" creationId="{09403627-AE1E-E690-6729-3A7A0D51CA88}"/>
          </ac:spMkLst>
        </pc:spChg>
        <pc:spChg chg="add mod">
          <ac:chgData name="Pazos, Ileana M. (Fed)" userId="fae44607-d07d-411e-8acb-516d40b2bdbf" providerId="ADAL" clId="{14C8A447-C7CE-43A8-9F06-02C56A3E2D8A}" dt="2025-09-22T18:33:18.228" v="430"/>
          <ac:spMkLst>
            <pc:docMk/>
            <pc:sldMk cId="3026225702" sldId="268"/>
            <ac:spMk id="13" creationId="{4559A299-7323-11A2-79EC-273E2CB8C160}"/>
          </ac:spMkLst>
        </pc:spChg>
        <pc:spChg chg="add mod ord">
          <ac:chgData name="Pazos, Ileana M. (Fed)" userId="fae44607-d07d-411e-8acb-516d40b2bdbf" providerId="ADAL" clId="{14C8A447-C7CE-43A8-9F06-02C56A3E2D8A}" dt="2025-09-22T18:44:40.146" v="626" actId="27636"/>
          <ac:spMkLst>
            <pc:docMk/>
            <pc:sldMk cId="3026225702" sldId="268"/>
            <ac:spMk id="14" creationId="{36025A0A-CFAB-0F04-4C42-64DB9F8FBD7C}"/>
          </ac:spMkLst>
        </pc:spChg>
        <pc:spChg chg="add">
          <ac:chgData name="Pazos, Ileana M. (Fed)" userId="fae44607-d07d-411e-8acb-516d40b2bdbf" providerId="ADAL" clId="{14C8A447-C7CE-43A8-9F06-02C56A3E2D8A}" dt="2025-09-22T18:34:11.092" v="432"/>
          <ac:spMkLst>
            <pc:docMk/>
            <pc:sldMk cId="3026225702" sldId="268"/>
            <ac:spMk id="16" creationId="{F93B37C3-8AE9-2AAB-FF1F-FE7460DFEC2B}"/>
          </ac:spMkLst>
        </pc:spChg>
        <pc:spChg chg="add">
          <ac:chgData name="Pazos, Ileana M. (Fed)" userId="fae44607-d07d-411e-8acb-516d40b2bdbf" providerId="ADAL" clId="{14C8A447-C7CE-43A8-9F06-02C56A3E2D8A}" dt="2025-09-22T18:34:11.092" v="432"/>
          <ac:spMkLst>
            <pc:docMk/>
            <pc:sldMk cId="3026225702" sldId="268"/>
            <ac:spMk id="17" creationId="{33FD00A5-46F6-2EB6-3DAB-0E7F59E00D8E}"/>
          </ac:spMkLst>
        </pc:spChg>
        <pc:spChg chg="add">
          <ac:chgData name="Pazos, Ileana M. (Fed)" userId="fae44607-d07d-411e-8acb-516d40b2bdbf" providerId="ADAL" clId="{14C8A447-C7CE-43A8-9F06-02C56A3E2D8A}" dt="2025-09-22T18:34:11.092" v="432"/>
          <ac:spMkLst>
            <pc:docMk/>
            <pc:sldMk cId="3026225702" sldId="268"/>
            <ac:spMk id="18" creationId="{AFEE7113-91F2-36ED-F83D-A8DD5A119580}"/>
          </ac:spMkLst>
        </pc:spChg>
        <pc:spChg chg="add">
          <ac:chgData name="Pazos, Ileana M. (Fed)" userId="fae44607-d07d-411e-8acb-516d40b2bdbf" providerId="ADAL" clId="{14C8A447-C7CE-43A8-9F06-02C56A3E2D8A}" dt="2025-09-22T18:34:11.092" v="432"/>
          <ac:spMkLst>
            <pc:docMk/>
            <pc:sldMk cId="3026225702" sldId="268"/>
            <ac:spMk id="22" creationId="{05685B73-0234-786D-14B6-848AE60D07BE}"/>
          </ac:spMkLst>
        </pc:spChg>
        <pc:spChg chg="add">
          <ac:chgData name="Pazos, Ileana M. (Fed)" userId="fae44607-d07d-411e-8acb-516d40b2bdbf" providerId="ADAL" clId="{14C8A447-C7CE-43A8-9F06-02C56A3E2D8A}" dt="2025-09-22T18:34:11.092" v="432"/>
          <ac:spMkLst>
            <pc:docMk/>
            <pc:sldMk cId="3026225702" sldId="268"/>
            <ac:spMk id="25" creationId="{80C64656-D0CC-47E9-BEA7-830F509E29DC}"/>
          </ac:spMkLst>
        </pc:spChg>
        <pc:spChg chg="add">
          <ac:chgData name="Pazos, Ileana M. (Fed)" userId="fae44607-d07d-411e-8acb-516d40b2bdbf" providerId="ADAL" clId="{14C8A447-C7CE-43A8-9F06-02C56A3E2D8A}" dt="2025-09-22T18:34:11.092" v="432"/>
          <ac:spMkLst>
            <pc:docMk/>
            <pc:sldMk cId="3026225702" sldId="268"/>
            <ac:spMk id="26" creationId="{FC1BBE76-46F3-3A9E-59FE-0F226B426B11}"/>
          </ac:spMkLst>
        </pc:spChg>
        <pc:spChg chg="add">
          <ac:chgData name="Pazos, Ileana M. (Fed)" userId="fae44607-d07d-411e-8acb-516d40b2bdbf" providerId="ADAL" clId="{14C8A447-C7CE-43A8-9F06-02C56A3E2D8A}" dt="2025-09-22T18:34:11.092" v="432"/>
          <ac:spMkLst>
            <pc:docMk/>
            <pc:sldMk cId="3026225702" sldId="268"/>
            <ac:spMk id="27" creationId="{4901E1E4-2E47-EF13-8FF4-63F746652A71}"/>
          </ac:spMkLst>
        </pc:spChg>
        <pc:spChg chg="add">
          <ac:chgData name="Pazos, Ileana M. (Fed)" userId="fae44607-d07d-411e-8acb-516d40b2bdbf" providerId="ADAL" clId="{14C8A447-C7CE-43A8-9F06-02C56A3E2D8A}" dt="2025-09-22T18:34:11.092" v="432"/>
          <ac:spMkLst>
            <pc:docMk/>
            <pc:sldMk cId="3026225702" sldId="268"/>
            <ac:spMk id="29" creationId="{610AC3AF-0A7C-8719-1371-F0F612EEF244}"/>
          </ac:spMkLst>
        </pc:spChg>
        <pc:spChg chg="add">
          <ac:chgData name="Pazos, Ileana M. (Fed)" userId="fae44607-d07d-411e-8acb-516d40b2bdbf" providerId="ADAL" clId="{14C8A447-C7CE-43A8-9F06-02C56A3E2D8A}" dt="2025-09-22T18:34:11.092" v="432"/>
          <ac:spMkLst>
            <pc:docMk/>
            <pc:sldMk cId="3026225702" sldId="268"/>
            <ac:spMk id="32" creationId="{1B29C98B-56B0-276A-3B2B-45EA11063317}"/>
          </ac:spMkLst>
        </pc:spChg>
        <pc:spChg chg="add">
          <ac:chgData name="Pazos, Ileana M. (Fed)" userId="fae44607-d07d-411e-8acb-516d40b2bdbf" providerId="ADAL" clId="{14C8A447-C7CE-43A8-9F06-02C56A3E2D8A}" dt="2025-09-22T18:34:11.092" v="432"/>
          <ac:spMkLst>
            <pc:docMk/>
            <pc:sldMk cId="3026225702" sldId="268"/>
            <ac:spMk id="35" creationId="{FA4B7946-5478-3EFA-935D-30DB008C9662}"/>
          </ac:spMkLst>
        </pc:spChg>
      </pc:sldChg>
      <pc:sldChg chg="modSp add mod ord">
        <pc:chgData name="Pazos, Ileana M. (Fed)" userId="fae44607-d07d-411e-8acb-516d40b2bdbf" providerId="ADAL" clId="{14C8A447-C7CE-43A8-9F06-02C56A3E2D8A}" dt="2025-09-22T18:39:09.666" v="530" actId="5793"/>
        <pc:sldMkLst>
          <pc:docMk/>
          <pc:sldMk cId="591047753" sldId="269"/>
        </pc:sldMkLst>
        <pc:spChg chg="mod">
          <ac:chgData name="Pazos, Ileana M. (Fed)" userId="fae44607-d07d-411e-8acb-516d40b2bdbf" providerId="ADAL" clId="{14C8A447-C7CE-43A8-9F06-02C56A3E2D8A}" dt="2025-09-22T18:39:09.666" v="530" actId="5793"/>
          <ac:spMkLst>
            <pc:docMk/>
            <pc:sldMk cId="591047753" sldId="269"/>
            <ac:spMk id="14" creationId="{96301E9D-843E-349A-8C70-F471773080ED}"/>
          </ac:spMkLst>
        </pc:spChg>
      </pc:sldChg>
      <pc:sldChg chg="new del">
        <pc:chgData name="Pazos, Ileana M. (Fed)" userId="fae44607-d07d-411e-8acb-516d40b2bdbf" providerId="ADAL" clId="{14C8A447-C7CE-43A8-9F06-02C56A3E2D8A}" dt="2025-09-22T18:41:17.072" v="572" actId="47"/>
        <pc:sldMkLst>
          <pc:docMk/>
          <pc:sldMk cId="2573006503" sldId="270"/>
        </pc:sldMkLst>
      </pc:sldChg>
      <pc:sldChg chg="add del">
        <pc:chgData name="Pazos, Ileana M. (Fed)" userId="fae44607-d07d-411e-8acb-516d40b2bdbf" providerId="ADAL" clId="{14C8A447-C7CE-43A8-9F06-02C56A3E2D8A}" dt="2025-09-22T18:41:49.287" v="574" actId="47"/>
        <pc:sldMkLst>
          <pc:docMk/>
          <pc:sldMk cId="2952764300" sldId="271"/>
        </pc:sldMkLst>
      </pc:sldChg>
      <pc:sldChg chg="modSp add mod">
        <pc:chgData name="Pazos, Ileana M. (Fed)" userId="fae44607-d07d-411e-8acb-516d40b2bdbf" providerId="ADAL" clId="{14C8A447-C7CE-43A8-9F06-02C56A3E2D8A}" dt="2025-09-22T18:45:42.068" v="628" actId="27636"/>
        <pc:sldMkLst>
          <pc:docMk/>
          <pc:sldMk cId="3414480036" sldId="272"/>
        </pc:sldMkLst>
        <pc:spChg chg="mod">
          <ac:chgData name="Pazos, Ileana M. (Fed)" userId="fae44607-d07d-411e-8acb-516d40b2bdbf" providerId="ADAL" clId="{14C8A447-C7CE-43A8-9F06-02C56A3E2D8A}" dt="2025-09-22T18:45:42.068" v="628" actId="27636"/>
          <ac:spMkLst>
            <pc:docMk/>
            <pc:sldMk cId="3414480036" sldId="272"/>
            <ac:spMk id="14" creationId="{D14986CC-3842-A4BA-0327-40D2F33BD7A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018BC-65AF-AD20-6BC1-826066BC9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8ED0F8-DD52-E837-9B8F-907FAB0272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3D754-271B-29BE-F07B-AAF1A227C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B02A-FEC8-4F20-B0B3-0A1B651B052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E3717-227B-97F7-DE6C-1AED23508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54515-B7D6-589E-F9D9-87A9F2CBE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FE710-AB5E-478C-9E59-CB707850A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68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B0B18-C465-F7EB-6E55-3BC9F1C4A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DCF6B-A373-C798-77A2-D02F4564B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D7994-FC94-3E6A-019A-8D117084F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B02A-FEC8-4F20-B0B3-0A1B651B052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A7C10-7D20-7FDB-0B2C-5A15B2D0F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77AED-10CF-2EB8-1F94-2E579598F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FE710-AB5E-478C-9E59-CB707850A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48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CAEEC-B407-900E-C4AE-6A40946B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5820C-9F41-9BD8-4B56-812399806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263AE-C342-911D-9019-4834ED75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B02A-FEC8-4F20-B0B3-0A1B651B052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77295-227C-5C16-3A64-97633D243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7F48E-80C8-0401-BCF7-D09D22FF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FE710-AB5E-478C-9E59-CB707850A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4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509A-0B53-E80C-4EE1-F2C63EAD5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F8755-BB97-A140-CB5C-48A5C4FCE9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4A1867-8583-FCF8-5E1C-A8ECBCCCA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E5B183-895B-E9AD-1F63-8EDA1D504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B02A-FEC8-4F20-B0B3-0A1B651B052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9C512-2F6C-B15E-AD4D-BD9EE0359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4175E1-17C9-65EE-87B9-83F31B3A7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FE710-AB5E-478C-9E59-CB707850A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425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735F1-4A61-D7E1-1E60-5152D85CE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98E6B-A8DB-D4BF-5B9B-231C2112F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31EFDE-FA7B-7383-DD90-AF5388FD75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A90EEF-39B2-67D6-9DC7-79579AFEC3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385496-A80A-A070-6F43-47318933C4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6526ED-AAFF-1B34-83DD-253261308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B02A-FEC8-4F20-B0B3-0A1B651B052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3AAD01-932B-F1B8-6FD5-08C2C64CA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92A04-4835-1DD8-4899-EB258226D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FE710-AB5E-478C-9E59-CB707850A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9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089E4-6795-FA00-4CD5-B24CBA646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2F2649-E896-0799-186B-24E17918D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B02A-FEC8-4F20-B0B3-0A1B651B052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5AAA64-9A74-80EB-D349-C6A9FD334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96C84B-CBA8-D80B-4AE9-B72EB94E1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FE710-AB5E-478C-9E59-CB707850A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50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882DD0-1E6E-85DA-BEEF-BCDBDE62A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B02A-FEC8-4F20-B0B3-0A1B651B052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0D2215-9380-B60A-68B8-867561F3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5462B-AF2B-5C60-7845-D890B1DDC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FE710-AB5E-478C-9E59-CB707850A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925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07FF1-0E97-A79D-3CB9-D3AAFF1C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B4703-234C-C2C4-6270-DF6AA35DD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0A9BBE-A9F6-A27B-81B9-0E566C0EEC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4B294-76E7-5405-3B98-6411CB07B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B02A-FEC8-4F20-B0B3-0A1B651B052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F66D2-B5F9-CE6F-64FA-2FB6E05B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D00B0D-458E-45B8-E8E0-602EEAF9E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FE710-AB5E-478C-9E59-CB707850A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206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C8139-CF9B-E288-9740-53B1C0C59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302DB1-D570-7799-A0C7-C366577D8E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CC1D1F-D967-040B-323A-EB1EF788F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295B5-D5CE-9A1E-B30C-8FC9FC27A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B02A-FEC8-4F20-B0B3-0A1B651B052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6FDD2-FB6D-5902-5D7F-E4D5287B4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A69B0-2D14-7F8F-651C-1DB6A39D7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FE710-AB5E-478C-9E59-CB707850A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121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26CE9-D1D8-CAB4-CF9B-7C113ACE6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03F990-677F-E75A-B72B-FA9EAD7C8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B8C22-8766-5045-282E-AC1EF84E7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B02A-FEC8-4F20-B0B3-0A1B651B052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3E253-80E1-BCA4-16E9-A33D91A7E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AEC5E-4A0F-BF2A-967B-1F87B91DF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FE710-AB5E-478C-9E59-CB707850A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972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A80D0D-DF2A-CD7B-D9D3-5DEF637A32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36AECB-6B74-C1B6-CF67-0803254E2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C9249-A7F8-FFCE-C07F-FA7E29C73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B02A-FEC8-4F20-B0B3-0A1B651B052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F02D9-FF83-001B-7CCB-4E908E2BF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25BE1-DAD9-064B-AA11-D4997D140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FE710-AB5E-478C-9E59-CB707850A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307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FDC4B8-1E82-778E-1CCD-7396B2D2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1F195-5B3C-6B78-426F-8335D3A31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C9E6D-E0AB-5146-E711-A6B0C60C85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5B02A-FEC8-4F20-B0B3-0A1B651B0528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4CF78-8826-4560-E2DF-B1EAC1FB73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CCBEF-AED2-F6FD-D826-0861B10474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1FE710-AB5E-478C-9E59-CB707850A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71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0926A8-9171-A412-1C7B-F74E853F992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4445D7-844E-B34E-079F-F38DD226A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37242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Scientific Exchange on Modeling and Simulation for Radiation Sterilization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8BA1C7-29D6-7DBB-DD1E-AA493EBDB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374284"/>
            <a:ext cx="9144000" cy="109839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September 16-17, 2025</a:t>
            </a:r>
          </a:p>
        </p:txBody>
      </p:sp>
    </p:spTree>
    <p:extLst>
      <p:ext uri="{BB962C8B-B14F-4D97-AF65-F5344CB8AC3E}">
        <p14:creationId xmlns:p14="http://schemas.microsoft.com/office/powerpoint/2010/main" val="2083853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FDCDCE0-C75E-729A-9172-A6F855C4F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85"/>
            <a:ext cx="10515600" cy="1325563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506CE2-0806-501B-A151-6CC78370A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9840"/>
            <a:ext cx="10515600" cy="555752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modeling workshop was a focused two-day scientific exchange on modeling and simulation for radiation processing, held at NIST in September 2025. </a:t>
            </a:r>
          </a:p>
          <a:p>
            <a:r>
              <a:rPr lang="en-US" dirty="0"/>
              <a:t>The event brought together government, industry, academia, and regulatory stakeholders to address how mathematical modeling could be better integrated into radiation sterilization processes. </a:t>
            </a:r>
          </a:p>
          <a:p>
            <a:pPr marL="0" indent="0">
              <a:buNone/>
            </a:pPr>
            <a:r>
              <a:rPr lang="en-US" b="1" dirty="0"/>
              <a:t>Workshop Structure and Participants</a:t>
            </a:r>
          </a:p>
          <a:p>
            <a:r>
              <a:rPr lang="en-US" dirty="0"/>
              <a:t>The workshop featured morning presentations covering radiation simulation, mathematical methods, and radiation therapy perspectives, followed by afternoon breakout sessions focused on building credibility and developing standards. </a:t>
            </a:r>
          </a:p>
          <a:p>
            <a:pPr marL="0" indent="0">
              <a:buNone/>
            </a:pPr>
            <a:r>
              <a:rPr lang="en-US" b="1" dirty="0"/>
              <a:t>Key Problem Identified</a:t>
            </a:r>
          </a:p>
          <a:p>
            <a:r>
              <a:rPr lang="en-US" dirty="0"/>
              <a:t>The central challenge addressed was that while mathematical modeling works well in radiation oncology and other industries, it's not routinely used in radiation sterilization workflows. </a:t>
            </a:r>
          </a:p>
          <a:p>
            <a:r>
              <a:rPr lang="en-US" dirty="0"/>
              <a:t>The primary barrier is economic - dose mapping costs $5,000-$10,000, while benchmarking a mathematical model can cost $50,000-$100,000, making the investment difficult to justify.</a:t>
            </a:r>
          </a:p>
        </p:txBody>
      </p:sp>
    </p:spTree>
    <p:extLst>
      <p:ext uri="{BB962C8B-B14F-4D97-AF65-F5344CB8AC3E}">
        <p14:creationId xmlns:p14="http://schemas.microsoft.com/office/powerpoint/2010/main" val="1526778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705157-393B-44F9-D9BB-CDD14AA09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7625"/>
            <a:ext cx="11194646" cy="1325563"/>
          </a:xfrm>
        </p:spPr>
        <p:txBody>
          <a:bodyPr/>
          <a:lstStyle/>
          <a:p>
            <a:r>
              <a:rPr lang="en-US" dirty="0"/>
              <a:t>“Same” Problem, except for dose and scale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798B894-E581-476B-5D54-33FA01A83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8674" y="1258888"/>
            <a:ext cx="5486400" cy="1833130"/>
          </a:xfrm>
        </p:spPr>
        <p:txBody>
          <a:bodyPr anchor="t">
            <a:normAutofit fontScale="92500"/>
          </a:bodyPr>
          <a:lstStyle/>
          <a:p>
            <a:r>
              <a:rPr lang="en-US" sz="1400" dirty="0"/>
              <a:t>Focused clinical beam (2 Gy to ~1 cm region):</a:t>
            </a:r>
          </a:p>
          <a:p>
            <a:r>
              <a:rPr lang="en-US" sz="1400" dirty="0"/>
              <a:t>Objective: </a:t>
            </a:r>
            <a:r>
              <a:rPr lang="en-US" sz="1400" b="0" dirty="0"/>
              <a:t>deliver a </a:t>
            </a:r>
            <a:r>
              <a:rPr lang="en-US" sz="1400" b="0" i="1" dirty="0"/>
              <a:t>low dose</a:t>
            </a:r>
            <a:r>
              <a:rPr lang="en-US" sz="1400" b="0" dirty="0"/>
              <a:t> precisely to a small, localized volume </a:t>
            </a:r>
          </a:p>
          <a:p>
            <a:r>
              <a:rPr lang="en-US" sz="1400" dirty="0"/>
              <a:t>Challenge: </a:t>
            </a:r>
            <a:r>
              <a:rPr lang="en-US" sz="1400" b="0" i="1" dirty="0"/>
              <a:t>complex modeling and simulation</a:t>
            </a:r>
            <a:r>
              <a:rPr lang="en-US" sz="1400" b="0" dirty="0"/>
              <a:t> to account for scattering, heterogeneity of tissues, beam shaping, and patient-specific anatomy</a:t>
            </a:r>
          </a:p>
          <a:p>
            <a:r>
              <a:rPr lang="en-US" sz="1400" dirty="0"/>
              <a:t>Verification: </a:t>
            </a:r>
            <a:r>
              <a:rPr lang="en-US" sz="1400" b="0" dirty="0"/>
              <a:t>relies heavily on computational modeling, treatment planning systems, and imaging, with physical measurements used sparingly for quality assurance.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21E79DC-F856-3D8A-2FF1-7E02C8CC6B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6757" y="3468412"/>
            <a:ext cx="3349197" cy="3232947"/>
          </a:xfrm>
          <a:prstGeom prst="rect">
            <a:avLst/>
          </a:prstGeom>
          <a:effectLst/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859326A-4419-F362-5018-4FE8371BEA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258888"/>
            <a:ext cx="5486400" cy="1833130"/>
          </a:xfrm>
        </p:spPr>
        <p:txBody>
          <a:bodyPr anchor="t">
            <a:normAutofit fontScale="92500"/>
          </a:bodyPr>
          <a:lstStyle/>
          <a:p>
            <a:r>
              <a:rPr lang="en-US" sz="1400" dirty="0"/>
              <a:t>Large-scale processing (20 kGy to ~1 m region):</a:t>
            </a:r>
          </a:p>
          <a:p>
            <a:r>
              <a:rPr lang="en-US" sz="1400" dirty="0"/>
              <a:t>Objective: </a:t>
            </a:r>
            <a:r>
              <a:rPr lang="en-US" sz="1400" b="0" dirty="0"/>
              <a:t>deliver a </a:t>
            </a:r>
            <a:r>
              <a:rPr lang="en-US" sz="1400" b="0" i="1" dirty="0"/>
              <a:t>very high dose</a:t>
            </a:r>
            <a:r>
              <a:rPr lang="en-US" sz="1400" b="0" dirty="0"/>
              <a:t> uniformly to a large bulk product</a:t>
            </a:r>
          </a:p>
          <a:p>
            <a:r>
              <a:rPr lang="en-US" sz="1400" dirty="0"/>
              <a:t>Challenge: </a:t>
            </a:r>
            <a:r>
              <a:rPr lang="en-US" sz="1400" b="0" dirty="0"/>
              <a:t>relies on </a:t>
            </a:r>
            <a:r>
              <a:rPr lang="en-US" sz="1400" b="0" i="1" dirty="0"/>
              <a:t>uniformity and reproducibility</a:t>
            </a:r>
            <a:r>
              <a:rPr lang="en-US" sz="1400" b="0" dirty="0"/>
              <a:t> across pallets or containers, where modeling plays a smaller role and </a:t>
            </a:r>
            <a:r>
              <a:rPr lang="en-US" sz="1400" b="0" i="1" dirty="0"/>
              <a:t>physical dosimetry</a:t>
            </a:r>
            <a:r>
              <a:rPr lang="en-US" sz="1400" b="0" dirty="0"/>
              <a:t> is the foundation for process control.</a:t>
            </a:r>
          </a:p>
          <a:p>
            <a:r>
              <a:rPr lang="en-US" sz="1400" dirty="0"/>
              <a:t>Verification:</a:t>
            </a:r>
            <a:r>
              <a:rPr lang="en-US" sz="1400" b="0" dirty="0"/>
              <a:t> traceable physical dosimetry, with routine dose mapping and reproducibility checks to confirm uniformity across the irradiation volume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203D65B-F889-AB1A-8387-8DDF74B746B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3468412"/>
            <a:ext cx="4814807" cy="323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847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E6E882D-FB22-8BF3-F995-C8FAF6E1D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45"/>
            <a:ext cx="10515600" cy="1325563"/>
          </a:xfrm>
        </p:spPr>
        <p:txBody>
          <a:bodyPr/>
          <a:lstStyle/>
          <a:p>
            <a:r>
              <a:rPr lang="en-US" dirty="0"/>
              <a:t>Stakeholders, 47 registrants, 30 organizations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32FBC-8813-9FE0-FC39-D4F03506A6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080" y="1270000"/>
            <a:ext cx="4455160" cy="558799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Academia</a:t>
            </a:r>
          </a:p>
          <a:p>
            <a:r>
              <a:rPr lang="en-US" dirty="0"/>
              <a:t>Georgia Institute of Technology</a:t>
            </a:r>
          </a:p>
          <a:p>
            <a:r>
              <a:rPr lang="en-US" dirty="0"/>
              <a:t>Johns Hopkins University</a:t>
            </a:r>
          </a:p>
          <a:p>
            <a:r>
              <a:rPr lang="en-US" dirty="0"/>
              <a:t>University of Pennsylvania</a:t>
            </a:r>
          </a:p>
          <a:p>
            <a:pPr marL="0" indent="0">
              <a:buNone/>
            </a:pPr>
            <a:r>
              <a:rPr lang="en-US" b="1" dirty="0"/>
              <a:t>Government</a:t>
            </a:r>
          </a:p>
          <a:p>
            <a:r>
              <a:rPr lang="en-US" dirty="0"/>
              <a:t>FDA (U.S. Food and Drug Administration)</a:t>
            </a:r>
            <a:br>
              <a:rPr lang="en-US" dirty="0"/>
            </a:br>
            <a:r>
              <a:rPr lang="en-US" dirty="0"/>
              <a:t>CDRH (Center for Devices and Radiological Health)</a:t>
            </a:r>
          </a:p>
          <a:p>
            <a:r>
              <a:rPr lang="en-US" dirty="0"/>
              <a:t>NIST (National Institute of Standards and Technology)</a:t>
            </a:r>
          </a:p>
          <a:p>
            <a:r>
              <a:rPr lang="en-US" dirty="0"/>
              <a:t>NIH/NCI (National Institutes of Health / National Cancer Institute)</a:t>
            </a:r>
          </a:p>
          <a:p>
            <a:r>
              <a:rPr lang="en-US" dirty="0"/>
              <a:t>Pacific Northwest National Laboratory (DOE national lab)</a:t>
            </a:r>
          </a:p>
          <a:p>
            <a:r>
              <a:rPr lang="en-US" dirty="0"/>
              <a:t>Oak Ridge National Laboratory (DOE national lab)</a:t>
            </a:r>
          </a:p>
          <a:p>
            <a:pPr marL="0" indent="0">
              <a:buNone/>
            </a:pPr>
            <a:r>
              <a:rPr lang="en-US" b="1" dirty="0"/>
              <a:t>Industry</a:t>
            </a:r>
          </a:p>
          <a:p>
            <a:r>
              <a:rPr lang="en-US" b="1" dirty="0"/>
              <a:t>Testing, Standards &amp; Certification</a:t>
            </a:r>
            <a:endParaRPr lang="en-US" dirty="0"/>
          </a:p>
          <a:p>
            <a:r>
              <a:rPr lang="en-US" dirty="0"/>
              <a:t>BSI (British Standards Institution, certification and standards)</a:t>
            </a:r>
          </a:p>
          <a:p>
            <a:r>
              <a:rPr lang="en-US" dirty="0"/>
              <a:t>TÜV SÜD (testing, inspection, and certification services)</a:t>
            </a:r>
          </a:p>
          <a:p>
            <a:r>
              <a:rPr lang="en-US" dirty="0"/>
              <a:t>Applied Research Associates, Inc. (engineering and applied science R&amp;D)</a:t>
            </a:r>
          </a:p>
          <a:p>
            <a:endParaRPr lang="en-US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BDE1A4B9-0B84-F66E-7E8F-C41618B08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7720" y="1270000"/>
            <a:ext cx="3815080" cy="558799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Industry</a:t>
            </a:r>
          </a:p>
          <a:p>
            <a:r>
              <a:rPr lang="en-US" b="1" dirty="0"/>
              <a:t>Medical Devices &amp; Healthcare</a:t>
            </a:r>
            <a:endParaRPr lang="en-US" dirty="0"/>
          </a:p>
          <a:p>
            <a:r>
              <a:rPr lang="en-US" dirty="0"/>
              <a:t>Medtronic (medical devices)</a:t>
            </a:r>
          </a:p>
          <a:p>
            <a:r>
              <a:rPr lang="en-US" dirty="0"/>
              <a:t>Boston Scientific (medical devices)</a:t>
            </a:r>
          </a:p>
          <a:p>
            <a:r>
              <a:rPr lang="en-US" dirty="0"/>
              <a:t>Johnson &amp; Johnson (medical devices / healthcare products)</a:t>
            </a:r>
          </a:p>
          <a:p>
            <a:r>
              <a:rPr lang="en-US" dirty="0"/>
              <a:t>Becton Dickinson (medical technology and diagnostics)</a:t>
            </a:r>
          </a:p>
          <a:p>
            <a:r>
              <a:rPr lang="en-US" dirty="0"/>
              <a:t>Sartorius (biopharmaceutical and lab technologies)</a:t>
            </a:r>
          </a:p>
          <a:p>
            <a:r>
              <a:rPr lang="en-US" dirty="0"/>
              <a:t>Meissner Consulting GmbH (biotech/consulting, single-use systems)</a:t>
            </a:r>
          </a:p>
          <a:p>
            <a:r>
              <a:rPr lang="en-US" dirty="0" err="1"/>
              <a:t>StarFish</a:t>
            </a:r>
            <a:r>
              <a:rPr lang="en-US" dirty="0"/>
              <a:t> Medical (medical device design &amp; development)</a:t>
            </a:r>
          </a:p>
          <a:p>
            <a:r>
              <a:rPr lang="en-US" dirty="0"/>
              <a:t>Triple Ring Technologies (medical and biotech engineering/consulting)</a:t>
            </a:r>
          </a:p>
        </p:txBody>
      </p:sp>
      <p:sp>
        <p:nvSpPr>
          <p:cNvPr id="21" name="Content Placeholder 19">
            <a:extLst>
              <a:ext uri="{FF2B5EF4-FFF2-40B4-BE49-F238E27FC236}">
                <a16:creationId xmlns:a16="http://schemas.microsoft.com/office/drawing/2014/main" id="{A7C80889-62B6-ED92-0F36-53923B72D435}"/>
              </a:ext>
            </a:extLst>
          </p:cNvPr>
          <p:cNvSpPr txBox="1">
            <a:spLocks/>
          </p:cNvSpPr>
          <p:nvPr/>
        </p:nvSpPr>
        <p:spPr>
          <a:xfrm>
            <a:off x="8346440" y="1270000"/>
            <a:ext cx="3815080" cy="5587999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Industry</a:t>
            </a:r>
          </a:p>
          <a:p>
            <a:r>
              <a:rPr lang="en-US" b="1" dirty="0"/>
              <a:t>Radiation Processing / Sterilization</a:t>
            </a:r>
            <a:endParaRPr lang="en-US" dirty="0"/>
          </a:p>
          <a:p>
            <a:r>
              <a:rPr lang="en-US" dirty="0"/>
              <a:t>STERIS (infection prevention, sterilization solutions)</a:t>
            </a:r>
          </a:p>
          <a:p>
            <a:r>
              <a:rPr lang="en-US" dirty="0"/>
              <a:t>STERIS AST (Applied Sterilization Technologies, contract sterilization)</a:t>
            </a:r>
          </a:p>
          <a:p>
            <a:r>
              <a:rPr lang="en-US" dirty="0" err="1"/>
              <a:t>Sterigenics</a:t>
            </a:r>
            <a:r>
              <a:rPr lang="en-US" dirty="0"/>
              <a:t> (contract sterilization)</a:t>
            </a:r>
          </a:p>
          <a:p>
            <a:r>
              <a:rPr lang="en-US" dirty="0" err="1"/>
              <a:t>Steritek</a:t>
            </a:r>
            <a:r>
              <a:rPr lang="en-US" dirty="0"/>
              <a:t> (contract sterilization services)</a:t>
            </a:r>
          </a:p>
          <a:p>
            <a:r>
              <a:rPr lang="en-US" dirty="0"/>
              <a:t>BGS-US LLC (radiation sterilization, subsidiary of BGS Germany)</a:t>
            </a:r>
          </a:p>
          <a:p>
            <a:r>
              <a:rPr lang="en-US" dirty="0"/>
              <a:t>Nordion (Cobalt-60 supply, irradiation technologies)</a:t>
            </a:r>
          </a:p>
          <a:p>
            <a:r>
              <a:rPr lang="en-US" dirty="0"/>
              <a:t>Aerial (radiation processing / dosimetry)</a:t>
            </a:r>
          </a:p>
          <a:p>
            <a:r>
              <a:rPr lang="en-US" dirty="0" err="1"/>
              <a:t>Reveam</a:t>
            </a:r>
            <a:r>
              <a:rPr lang="en-US" dirty="0"/>
              <a:t> Inc (electron beam food sterilization)</a:t>
            </a:r>
          </a:p>
          <a:p>
            <a:r>
              <a:rPr lang="en-US" dirty="0"/>
              <a:t>TRAD Tests &amp; Radiations (dosimetry and radiation testing services)</a:t>
            </a:r>
          </a:p>
          <a:p>
            <a:r>
              <a:rPr lang="en-US" dirty="0"/>
              <a:t>IBA (Ion Beam Applications, radiation therapy and industrial irradiation)</a:t>
            </a:r>
          </a:p>
          <a:p>
            <a:r>
              <a:rPr lang="en-US" dirty="0" err="1"/>
              <a:t>Ebeam</a:t>
            </a:r>
            <a:r>
              <a:rPr lang="en-US" dirty="0"/>
              <a:t> Consulting LLC (electron beam sterilization consulting)</a:t>
            </a:r>
          </a:p>
        </p:txBody>
      </p:sp>
    </p:spTree>
    <p:extLst>
      <p:ext uri="{BB962C8B-B14F-4D97-AF65-F5344CB8AC3E}">
        <p14:creationId xmlns:p14="http://schemas.microsoft.com/office/powerpoint/2010/main" val="844399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0DF99-0517-DB5F-68BB-F3BC6FEEB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5A1E92-49F5-DA5C-4792-049AF18C1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45"/>
            <a:ext cx="10515600" cy="1325563"/>
          </a:xfrm>
        </p:spPr>
        <p:txBody>
          <a:bodyPr/>
          <a:lstStyle/>
          <a:p>
            <a:r>
              <a:rPr lang="en-US" dirty="0"/>
              <a:t>Major Outcomes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0A81EE-5477-93BD-4F9D-D4EBC3F52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" y="782320"/>
            <a:ext cx="11201400" cy="607568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1. Framework for Credibility</a:t>
            </a:r>
          </a:p>
          <a:p>
            <a:r>
              <a:rPr lang="en-US" dirty="0"/>
              <a:t>The workshop established that any modeling approach must be tied to known dosimetry standards.</a:t>
            </a:r>
          </a:p>
          <a:p>
            <a:r>
              <a:rPr lang="en-US" dirty="0"/>
              <a:t>The consensus was to build a framework based on continuous testing with dosimetry, combining virtual dosimetry with physical measurements rather than replacing them entirely.</a:t>
            </a:r>
          </a:p>
          <a:p>
            <a:pPr marL="0" indent="0">
              <a:buNone/>
            </a:pPr>
            <a:r>
              <a:rPr lang="en-US" b="1" dirty="0"/>
              <a:t>2. Three Key Application Areas</a:t>
            </a:r>
          </a:p>
          <a:p>
            <a:r>
              <a:rPr lang="en-US" dirty="0"/>
              <a:t>Participants identified where modeling could make the biggest impact:</a:t>
            </a:r>
          </a:p>
          <a:p>
            <a:pPr lvl="1"/>
            <a:r>
              <a:rPr lang="en-US" b="1" dirty="0"/>
              <a:t>Enhancing dosimetry</a:t>
            </a:r>
            <a:r>
              <a:rPr lang="en-US" dirty="0"/>
              <a:t>: Reducing physical dosimetry requirements in performance qualification (PQ) submissions and guiding optimal dosimeter placement</a:t>
            </a:r>
          </a:p>
          <a:p>
            <a:pPr lvl="1"/>
            <a:r>
              <a:rPr lang="en-US" b="1" dirty="0"/>
              <a:t>Supporting parametric release</a:t>
            </a:r>
            <a:r>
              <a:rPr lang="en-US" dirty="0"/>
              <a:t>: Using models to set process parameter bounds without testing each scenario physically</a:t>
            </a:r>
          </a:p>
          <a:p>
            <a:pPr lvl="1"/>
            <a:r>
              <a:rPr lang="en-US" b="1" dirty="0"/>
              <a:t>Advancing regulatory submissions</a:t>
            </a:r>
            <a:r>
              <a:rPr lang="en-US" dirty="0"/>
              <a:t>: Particularly through FDA's master file pilot program</a:t>
            </a:r>
          </a:p>
          <a:p>
            <a:pPr marL="0" indent="0">
              <a:buNone/>
            </a:pPr>
            <a:r>
              <a:rPr lang="en-US" b="1" dirty="0"/>
              <a:t>3. Regulatory Support</a:t>
            </a:r>
          </a:p>
          <a:p>
            <a:r>
              <a:rPr lang="en-US" dirty="0"/>
              <a:t>A significant finding was that regulators want to see more simulation in radiation sterilization - they just need proper justification. </a:t>
            </a:r>
          </a:p>
          <a:p>
            <a:r>
              <a:rPr lang="en-US" dirty="0"/>
              <a:t>The FDA representatives emphasized they're supportive of modeling approaches when credibility is demonstrated. </a:t>
            </a:r>
          </a:p>
        </p:txBody>
      </p:sp>
    </p:spTree>
    <p:extLst>
      <p:ext uri="{BB962C8B-B14F-4D97-AF65-F5344CB8AC3E}">
        <p14:creationId xmlns:p14="http://schemas.microsoft.com/office/powerpoint/2010/main" val="29128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1505B-F37B-2B25-9FCE-AB78DDB7E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Outcomes and Consensus,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AF786-8A55-21CE-C07C-411CBE9DC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Technical Requirements Identified</a:t>
            </a:r>
          </a:p>
          <a:p>
            <a:r>
              <a:rPr lang="en-US" dirty="0"/>
              <a:t>The workshop highlighted several technical needs: </a:t>
            </a:r>
          </a:p>
          <a:p>
            <a:pPr lvl="1"/>
            <a:r>
              <a:rPr lang="en-US" dirty="0"/>
              <a:t>Standardized phantoms for model validation</a:t>
            </a:r>
          </a:p>
          <a:p>
            <a:pPr lvl="1"/>
            <a:r>
              <a:rPr lang="en-US" dirty="0"/>
              <a:t>Proficiency testing programs similar to those in radiation therapy</a:t>
            </a:r>
          </a:p>
          <a:p>
            <a:pPr lvl="1"/>
            <a:r>
              <a:rPr lang="en-US" dirty="0"/>
              <a:t>Uncertainty quantification and sensitivity analysis protocols</a:t>
            </a:r>
          </a:p>
          <a:p>
            <a:pPr lvl="1"/>
            <a:r>
              <a:rPr lang="en-US" dirty="0"/>
              <a:t>Competency assessment frameworks for modelers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987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D4624-C8B6-B0D5-C0E4-B158189CC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45"/>
            <a:ext cx="10515600" cy="1325563"/>
          </a:xfrm>
        </p:spPr>
        <p:txBody>
          <a:bodyPr/>
          <a:lstStyle/>
          <a:p>
            <a:r>
              <a:rPr lang="en-US" b="1" dirty="0"/>
              <a:t>Action Items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3E7BE-C297-0DE8-C80C-33FC0EA15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5840"/>
            <a:ext cx="10515600" cy="56388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Foundational</a:t>
            </a:r>
          </a:p>
          <a:p>
            <a:r>
              <a:rPr lang="en-US" dirty="0"/>
              <a:t>Establish consensus standards and quality systems for verification, validation, and quality assurance, leveraging existing frameworks and organizations (e.g., ASTM, AAPM).</a:t>
            </a:r>
          </a:p>
          <a:p>
            <a:r>
              <a:rPr lang="en-US" dirty="0"/>
              <a:t>Develop a library of validated use cases with specific application contexts to demonstrate credibility and impact.</a:t>
            </a:r>
          </a:p>
          <a:p>
            <a:r>
              <a:rPr lang="en-US" dirty="0"/>
              <a:t>Create proficiency testing programs that incorporate modeling components to benchmark performance and build confidence.</a:t>
            </a:r>
          </a:p>
          <a:p>
            <a:pPr marL="0" indent="0">
              <a:buNone/>
            </a:pPr>
            <a:r>
              <a:rPr lang="en-US" b="1" dirty="0"/>
              <a:t>Strategic Development</a:t>
            </a:r>
          </a:p>
          <a:p>
            <a:r>
              <a:rPr lang="en-US" dirty="0"/>
              <a:t>Form a CDRH-led working group to develop a specific use case and roadmap, including exploration of consortium funding mechanisms to support project development.</a:t>
            </a:r>
          </a:p>
          <a:p>
            <a:r>
              <a:rPr lang="en-US" dirty="0"/>
              <a:t>Develop a white paper articulating the benefits of modeling from multiple stakeholder perspectives, serving as a unifying reference and outreach tool.</a:t>
            </a:r>
          </a:p>
          <a:p>
            <a:pPr marL="0" indent="0">
              <a:buNone/>
            </a:pPr>
            <a:r>
              <a:rPr lang="en-US" b="1" dirty="0"/>
              <a:t>Communication and Engagement</a:t>
            </a:r>
          </a:p>
          <a:p>
            <a:r>
              <a:rPr lang="en-US" dirty="0"/>
              <a:t>Organize a webinar to summarize meeting outcomes, highlight action items, and engage broader stakeholders.</a:t>
            </a:r>
          </a:p>
        </p:txBody>
      </p:sp>
    </p:spTree>
    <p:extLst>
      <p:ext uri="{BB962C8B-B14F-4D97-AF65-F5344CB8AC3E}">
        <p14:creationId xmlns:p14="http://schemas.microsoft.com/office/powerpoint/2010/main" val="2470726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BA4CC-2760-CA11-6D85-73839C767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5532E-5A54-ECFA-E41A-6B3B65C3F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workshop identified that more focused time was needed to hammer out implementation details. </a:t>
            </a:r>
          </a:p>
          <a:p>
            <a:r>
              <a:rPr lang="en-US" dirty="0"/>
              <a:t>While the framework was established, significant work remains to develop the specific standards and validation approaches needed for widespread adoption. </a:t>
            </a:r>
          </a:p>
          <a:p>
            <a:r>
              <a:rPr lang="en-US" dirty="0"/>
              <a:t>The event successfully demonstrated strong collaboration potential between radiation sterilization and radiation therapy communities, with significant cross-pollination of ideas and approaches between the two fields.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988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F7B9026-36AD-42E4-B172-8D68F3A33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Picture 7" descr="Text, letter&#10;&#10;AI-generated content may be incorrect.">
            <a:extLst>
              <a:ext uri="{FF2B5EF4-FFF2-40B4-BE49-F238E27FC236}">
                <a16:creationId xmlns:a16="http://schemas.microsoft.com/office/drawing/2014/main" id="{E13B3A11-09E1-8BAD-9E3C-45E934132F9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"/>
          <a:stretch>
            <a:fillRect/>
          </a:stretch>
        </p:blipFill>
        <p:spPr>
          <a:xfrm>
            <a:off x="192528" y="171716"/>
            <a:ext cx="3793268" cy="6514565"/>
          </a:xfrm>
          <a:prstGeom prst="rect">
            <a:avLst/>
          </a:prstGeom>
        </p:spPr>
      </p:pic>
      <p:pic>
        <p:nvPicPr>
          <p:cNvPr id="10" name="Picture 9" descr="A piece of paper with writing on it&#10;&#10;AI-generated content may be incorrect.">
            <a:extLst>
              <a:ext uri="{FF2B5EF4-FFF2-40B4-BE49-F238E27FC236}">
                <a16:creationId xmlns:a16="http://schemas.microsoft.com/office/drawing/2014/main" id="{60FBE710-23EB-43AA-6BE1-34635D3CCB6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"/>
          <a:stretch>
            <a:fillRect/>
          </a:stretch>
        </p:blipFill>
        <p:spPr>
          <a:xfrm>
            <a:off x="4184538" y="171716"/>
            <a:ext cx="3822924" cy="6514565"/>
          </a:xfrm>
          <a:prstGeom prst="rect">
            <a:avLst/>
          </a:prstGeom>
        </p:spPr>
      </p:pic>
      <p:pic>
        <p:nvPicPr>
          <p:cNvPr id="5" name="Content Placeholder 4" descr="A person standing in front of a whiteboard&#10;&#10;AI-generated content may be incorrect.">
            <a:extLst>
              <a:ext uri="{FF2B5EF4-FFF2-40B4-BE49-F238E27FC236}">
                <a16:creationId xmlns:a16="http://schemas.microsoft.com/office/drawing/2014/main" id="{A5AE0DD1-5EF2-79B3-4A05-8657737B68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>
            <a:fillRect/>
          </a:stretch>
        </p:blipFill>
        <p:spPr>
          <a:xfrm>
            <a:off x="8188032" y="171716"/>
            <a:ext cx="3799007" cy="651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758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AE946-8D5D-D798-5A6A-D09D66D1F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62D8-B5C1-3E96-1E29-DC2191921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en-US" dirty="0"/>
              <a:t>White paper outline: Enhancing the Credibility of Simulation in Sterilization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6301E9D-843E-349A-8C70-F47177308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240" y="1343817"/>
            <a:ext cx="11927840" cy="549592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1. Executive Summary</a:t>
            </a:r>
          </a:p>
          <a:p>
            <a:pPr lvl="1"/>
            <a:r>
              <a:rPr lang="en-US" dirty="0"/>
              <a:t>Brief overview of the role of modeling and simulation in sterilization.</a:t>
            </a:r>
          </a:p>
          <a:p>
            <a:pPr lvl="1"/>
            <a:r>
              <a:rPr lang="en-US" dirty="0"/>
              <a:t>Meeting outcomes: consensus on roadmap elements, credibility needs, and community priorities.</a:t>
            </a:r>
          </a:p>
          <a:p>
            <a:pPr lvl="1"/>
            <a:r>
              <a:rPr lang="en-US" dirty="0"/>
              <a:t>Action plan: white paper, webinar, working group, and funding pathways.</a:t>
            </a:r>
          </a:p>
          <a:p>
            <a:pPr marL="0" indent="0">
              <a:buNone/>
            </a:pPr>
            <a:r>
              <a:rPr lang="en-US" dirty="0"/>
              <a:t>2. Introduction &amp; Context</a:t>
            </a:r>
          </a:p>
          <a:p>
            <a:pPr lvl="1"/>
            <a:r>
              <a:rPr lang="en-US" dirty="0"/>
              <a:t>Importance of modeling and simulation in sterilization.</a:t>
            </a:r>
          </a:p>
          <a:p>
            <a:pPr lvl="1"/>
            <a:r>
              <a:rPr lang="en-US" dirty="0"/>
              <a:t>Current challenges: lack of credibility, standardization, and regulatory alignment.</a:t>
            </a:r>
          </a:p>
          <a:p>
            <a:pPr lvl="1"/>
            <a:r>
              <a:rPr lang="en-US" dirty="0"/>
              <a:t>Purpose of this white paper: define roadmap, align community, and build trust in simulation.</a:t>
            </a:r>
          </a:p>
          <a:p>
            <a:pPr marL="0" indent="0">
              <a:buNone/>
            </a:pPr>
            <a:r>
              <a:rPr lang="en-US" dirty="0"/>
              <a:t>3. Overview of the Discussion</a:t>
            </a:r>
          </a:p>
          <a:p>
            <a:pPr lvl="1"/>
            <a:r>
              <a:rPr lang="en-US" dirty="0"/>
              <a:t>Goals of the session: credibility, roadmap development.</a:t>
            </a:r>
          </a:p>
          <a:p>
            <a:pPr lvl="1"/>
            <a:r>
              <a:rPr lang="en-US" dirty="0"/>
              <a:t>Key ideas discussed: publications, hackathons, academic engagement, proficiency testing.</a:t>
            </a:r>
          </a:p>
          <a:p>
            <a:pPr lvl="1"/>
            <a:r>
              <a:rPr lang="en-US" dirty="0"/>
              <a:t>Summary of proficiency testing and consensus standards.</a:t>
            </a:r>
          </a:p>
          <a:p>
            <a:pPr marL="0" indent="0">
              <a:buNone/>
            </a:pPr>
            <a:r>
              <a:rPr lang="en-US" dirty="0"/>
              <a:t>4. Prioritizing Key Elements for a Roadmap</a:t>
            </a:r>
          </a:p>
          <a:p>
            <a:pPr lvl="1"/>
            <a:r>
              <a:rPr lang="en-US" dirty="0"/>
              <a:t>Proficiency testing and modeling proficiency guidelines.</a:t>
            </a:r>
          </a:p>
          <a:p>
            <a:pPr lvl="1"/>
            <a:r>
              <a:rPr lang="en-US" dirty="0"/>
              <a:t>Consensus standards for methodology and validation.</a:t>
            </a:r>
          </a:p>
          <a:p>
            <a:pPr lvl="1"/>
            <a:r>
              <a:rPr lang="en-US" dirty="0"/>
              <a:t>Quantifying uncertainty budgets.</a:t>
            </a:r>
          </a:p>
          <a:p>
            <a:pPr lvl="1"/>
            <a:r>
              <a:rPr lang="en-US" dirty="0"/>
              <a:t>Sensitivity analysis and uncertainty qualification (UQ).</a:t>
            </a:r>
          </a:p>
          <a:p>
            <a:pPr lvl="2"/>
            <a:r>
              <a:rPr lang="en-US" dirty="0"/>
              <a:t>Recommendation: focus on a single, well-defined use case.</a:t>
            </a:r>
          </a:p>
        </p:txBody>
      </p:sp>
    </p:spTree>
    <p:extLst>
      <p:ext uri="{BB962C8B-B14F-4D97-AF65-F5344CB8AC3E}">
        <p14:creationId xmlns:p14="http://schemas.microsoft.com/office/powerpoint/2010/main" val="591047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FEDB8-354D-8C5B-11DF-65C0A995E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en-US" dirty="0"/>
              <a:t>White paper outline: Enhancing the Credibility of Simulation in Sterilization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6025A0A-CFAB-0F04-4C42-64DB9F8FB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240" y="1343818"/>
            <a:ext cx="11927840" cy="533130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5. Developing a Practical Roadmap</a:t>
            </a:r>
          </a:p>
          <a:p>
            <a:pPr lvl="1"/>
            <a:r>
              <a:rPr lang="en-US" dirty="0"/>
              <a:t>Establishing a standard reference case.</a:t>
            </a:r>
          </a:p>
          <a:p>
            <a:pPr lvl="1"/>
            <a:r>
              <a:rPr lang="en-US" dirty="0"/>
              <a:t>Need for periodic validation and reproducibility checks.</a:t>
            </a:r>
          </a:p>
          <a:p>
            <a:pPr lvl="1"/>
            <a:r>
              <a:rPr lang="en-US" dirty="0"/>
              <a:t>Characterization of phantoms and CAD drawing standards.</a:t>
            </a:r>
          </a:p>
          <a:p>
            <a:pPr lvl="1"/>
            <a:r>
              <a:rPr lang="en-US" dirty="0"/>
              <a:t>Incorporating ancillary equipment and real-time data into models.</a:t>
            </a:r>
          </a:p>
          <a:p>
            <a:pPr lvl="1"/>
            <a:r>
              <a:rPr lang="en-US" dirty="0"/>
              <a:t>Potential credentialing processes (lessons from radiation therapy).</a:t>
            </a:r>
          </a:p>
          <a:p>
            <a:pPr marL="0" indent="0">
              <a:buNone/>
            </a:pPr>
            <a:r>
              <a:rPr lang="en-US" dirty="0"/>
              <a:t>6. Building Credibility with Regulators</a:t>
            </a:r>
          </a:p>
          <a:p>
            <a:pPr lvl="1"/>
            <a:r>
              <a:rPr lang="en-US" dirty="0"/>
              <a:t>Benefits of modeling for patients, industry, and regulators.</a:t>
            </a:r>
          </a:p>
          <a:p>
            <a:pPr lvl="1"/>
            <a:r>
              <a:rPr lang="en-US" dirty="0"/>
              <a:t>Supporting regulatory submissions with simulation data.</a:t>
            </a:r>
          </a:p>
          <a:p>
            <a:pPr lvl="1"/>
            <a:r>
              <a:rPr lang="en-US" dirty="0"/>
              <a:t>Importance of process control and traceability to the virtual dose.</a:t>
            </a:r>
          </a:p>
          <a:p>
            <a:pPr lvl="1"/>
            <a:r>
              <a:rPr lang="en-US" dirty="0"/>
              <a:t>Competency assessment to build confidence.</a:t>
            </a:r>
          </a:p>
          <a:p>
            <a:pPr marL="0" indent="0">
              <a:buNone/>
            </a:pPr>
            <a:r>
              <a:rPr lang="en-US" dirty="0"/>
              <a:t>7. Leveraging Existing Resources and Standards</a:t>
            </a:r>
          </a:p>
          <a:p>
            <a:pPr lvl="1"/>
            <a:r>
              <a:rPr lang="en-US" dirty="0"/>
              <a:t>Role of ASTM, AAPM, and other frameworks.</a:t>
            </a:r>
          </a:p>
          <a:p>
            <a:pPr lvl="1"/>
            <a:r>
              <a:rPr lang="en-US" dirty="0"/>
              <a:t>Aligning with existing forums and standards organizations.</a:t>
            </a:r>
          </a:p>
          <a:p>
            <a:pPr lvl="1"/>
            <a:r>
              <a:rPr lang="en-US" dirty="0"/>
              <a:t>Need for modeling proficiency guidelines.</a:t>
            </a:r>
          </a:p>
          <a:p>
            <a:pPr lvl="1"/>
            <a:r>
              <a:rPr lang="en-US" dirty="0"/>
              <a:t>Exploring funding opportunities: grants, CDRH consortium support.</a:t>
            </a:r>
          </a:p>
        </p:txBody>
      </p:sp>
    </p:spTree>
    <p:extLst>
      <p:ext uri="{BB962C8B-B14F-4D97-AF65-F5344CB8AC3E}">
        <p14:creationId xmlns:p14="http://schemas.microsoft.com/office/powerpoint/2010/main" val="3026225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9A1E5-78CA-ABCF-4F28-80AA56321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DAF10-2D5D-33EB-F5BE-A6C3F19B0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en-US" dirty="0"/>
              <a:t>White paper outline: Enhancing the Credibility of Simulation in Sterilization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14986CC-3842-A4BA-0327-40D2F33BD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240" y="1343817"/>
            <a:ext cx="11927840" cy="563271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8. Developing a Use Case &amp; Working Group</a:t>
            </a:r>
          </a:p>
          <a:p>
            <a:pPr lvl="1"/>
            <a:r>
              <a:rPr lang="en-US" dirty="0"/>
              <a:t>Rationale for starting with a simple, practical use case.</a:t>
            </a:r>
          </a:p>
          <a:p>
            <a:pPr lvl="1"/>
            <a:r>
              <a:rPr lang="en-US" dirty="0"/>
              <a:t>Potential models to build on (e.g., syringe).</a:t>
            </a:r>
          </a:p>
          <a:p>
            <a:pPr lvl="1"/>
            <a:r>
              <a:rPr lang="en-US" dirty="0"/>
              <a:t>Use case as a driver for credibility, engagement, and testing the roadmap.</a:t>
            </a:r>
          </a:p>
          <a:p>
            <a:pPr lvl="1"/>
            <a:r>
              <a:rPr lang="en-US" dirty="0"/>
              <a:t>Establishment of a working group under CDRH to lead development.</a:t>
            </a:r>
          </a:p>
          <a:p>
            <a:pPr marL="0" indent="0">
              <a:buNone/>
            </a:pPr>
            <a:r>
              <a:rPr lang="en-US" dirty="0"/>
              <a:t>9. Engaging the Academic Community</a:t>
            </a:r>
          </a:p>
          <a:p>
            <a:pPr lvl="1"/>
            <a:r>
              <a:rPr lang="en-US" dirty="0"/>
              <a:t>Motivating participation through publications, credit, and training opportunities.</a:t>
            </a:r>
          </a:p>
          <a:p>
            <a:pPr lvl="1"/>
            <a:r>
              <a:rPr lang="en-US" dirty="0"/>
              <a:t>Integrating academic research with industry needs.</a:t>
            </a:r>
          </a:p>
          <a:p>
            <a:pPr lvl="1"/>
            <a:r>
              <a:rPr lang="en-US" dirty="0"/>
              <a:t>Roadmap alignment to ensure achievable goals.</a:t>
            </a:r>
          </a:p>
          <a:p>
            <a:pPr lvl="1"/>
            <a:r>
              <a:rPr lang="en-US" dirty="0"/>
              <a:t>Webinars, workshops, and events to sustain engagement.</a:t>
            </a:r>
          </a:p>
          <a:p>
            <a:pPr marL="0" indent="0">
              <a:buNone/>
            </a:pPr>
            <a:r>
              <a:rPr lang="en-US" dirty="0"/>
              <a:t>10. Final Thoughts &amp; Next Steps</a:t>
            </a:r>
          </a:p>
          <a:p>
            <a:pPr lvl="1"/>
            <a:r>
              <a:rPr lang="en-US" dirty="0"/>
              <a:t>Reaffirming patient health and safety as the ultimate goal.</a:t>
            </a:r>
          </a:p>
          <a:p>
            <a:pPr lvl="1"/>
            <a:r>
              <a:rPr lang="en-US" dirty="0"/>
              <a:t>Need for compromise, collaboration, and shared accountability.</a:t>
            </a:r>
          </a:p>
          <a:p>
            <a:r>
              <a:rPr lang="en-US" dirty="0"/>
              <a:t>Next steps:</a:t>
            </a:r>
          </a:p>
          <a:p>
            <a:pPr lvl="1"/>
            <a:r>
              <a:rPr lang="en-US" dirty="0"/>
              <a:t>Draft and circulate white paper.</a:t>
            </a:r>
          </a:p>
          <a:p>
            <a:pPr lvl="1"/>
            <a:r>
              <a:rPr lang="en-US" dirty="0"/>
              <a:t>Host webinar to summarize outcomes and recruit participants.</a:t>
            </a:r>
          </a:p>
          <a:p>
            <a:pPr lvl="1"/>
            <a:r>
              <a:rPr lang="en-US" dirty="0"/>
              <a:t>Form working group and define initial use case.</a:t>
            </a:r>
          </a:p>
          <a:p>
            <a:pPr lvl="1"/>
            <a:r>
              <a:rPr lang="en-US" dirty="0"/>
              <a:t>Explore funding mechanisms (grants, consortium support).</a:t>
            </a:r>
          </a:p>
        </p:txBody>
      </p:sp>
    </p:spTree>
    <p:extLst>
      <p:ext uri="{BB962C8B-B14F-4D97-AF65-F5344CB8AC3E}">
        <p14:creationId xmlns:p14="http://schemas.microsoft.com/office/powerpoint/2010/main" val="3414480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1495</Words>
  <Application>Microsoft Office PowerPoint</Application>
  <PresentationFormat>Widescreen</PresentationFormat>
  <Paragraphs>147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Scientific Exchange on Modeling and Simulation for Radiation Sterilization</vt:lpstr>
      <vt:lpstr>Overview</vt:lpstr>
      <vt:lpstr>“Same” Problem, except for dose and scale</vt:lpstr>
      <vt:lpstr>Stakeholders, 47 registrants, 30 organizations</vt:lpstr>
      <vt:lpstr>Major Outcomes</vt:lpstr>
      <vt:lpstr>Major Outcomes and Consensus, continued</vt:lpstr>
      <vt:lpstr>Action Items</vt:lpstr>
      <vt:lpstr>Challenges and Limitations</vt:lpstr>
      <vt:lpstr>PowerPoint Presentation</vt:lpstr>
      <vt:lpstr>White paper outline: Enhancing the Credibility of Simulation in Sterilization</vt:lpstr>
      <vt:lpstr>White paper outline: Enhancing the Credibility of Simulation in Sterilization</vt:lpstr>
      <vt:lpstr>White paper outline: Enhancing the Credibility of Simulation in Sterilization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Exchange on Modeling and Simulation for Radiation Sterilization</dc:title>
  <dc:creator>Pazos, Ileana M. (Fed)</dc:creator>
  <cp:lastModifiedBy>Tessier, Frédéric</cp:lastModifiedBy>
  <cp:revision>2</cp:revision>
  <dcterms:created xsi:type="dcterms:W3CDTF">2025-09-22T16:14:06Z</dcterms:created>
  <dcterms:modified xsi:type="dcterms:W3CDTF">2025-11-13T18:23:47Z</dcterms:modified>
</cp:coreProperties>
</file>